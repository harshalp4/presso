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73152"/>
            <a:ext cx="3200400" cy="5070348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PRESSO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Laundry, Delivered.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Marketing Strategy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 Mumbai Launch  |  April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$2.7B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Laundry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194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2697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CAGR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20M+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0" y="3977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 Mumbai Pop.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laundry is broken for urban professionals in Navi Mumbai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" cy="1463040"/>
          </a:xfrm>
          <a:prstGeom prst="rect">
            <a:avLst/>
          </a:prstGeom>
          <a:solidFill>
            <a:srgbClr val="FF606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FF60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Poverty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professionals lose 4-6 hours/week on laundry. In a dual-income household, this is unaffordable time.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1463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63040"/>
            <a:ext cx="54864" cy="14630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2" name="Shape 9"/>
          <p:cNvSpPr/>
          <p:nvPr/>
        </p:nvSpPr>
        <p:spPr>
          <a:xfrm>
            <a:off x="4983480" y="1737360"/>
            <a:ext cx="457200" cy="45720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Deficit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57784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dhobis damage premium garments. No accountability, no tracking, no quality guarantee.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154680"/>
            <a:ext cx="4023360" cy="1463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154680"/>
            <a:ext cx="54864" cy="1463040"/>
          </a:xfrm>
          <a:prstGeom prst="rect">
            <a:avLst/>
          </a:prstGeom>
          <a:solidFill>
            <a:srgbClr val="7B4FCC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7B4FC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04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Convenience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80160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reliable pickup/delivery. Customers carry heavy bags to laundry shops and wait days with no visibility.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54880" y="3154680"/>
            <a:ext cx="4023360" cy="1463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154680"/>
            <a:ext cx="54864" cy="1463040"/>
          </a:xfrm>
          <a:prstGeom prst="rect">
            <a:avLst/>
          </a:prstGeom>
          <a:solidFill>
            <a:srgbClr val="0072FF"/>
          </a:solidFill>
          <a:ln/>
        </p:spPr>
      </p:sp>
      <p:sp>
        <p:nvSpPr>
          <p:cNvPr id="24" name="Shape 19"/>
          <p:cNvSpPr/>
          <p:nvPr/>
        </p:nvSpPr>
        <p:spPr>
          <a:xfrm>
            <a:off x="4983480" y="3429000"/>
            <a:ext cx="457200" cy="457200"/>
          </a:xfrm>
          <a:prstGeom prst="ellipse">
            <a:avLst/>
          </a:prstGeom>
          <a:solidFill>
            <a:srgbClr val="0072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5204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Pricing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577840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pricing with hidden charges. No standardized rates across service types or garment categories.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Presso is an on-demand premium laundry platform with doorstep pickup, real-time tracking, photo verification, and a loyalty rewards system.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06040" cy="1371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11480" cy="411480"/>
          </a:xfrm>
          <a:prstGeom prst="ellipse">
            <a:avLst/>
          </a:prstGeom>
          <a:solidFill>
            <a:srgbClr val="00C6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9568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app with slot booking, payment, &amp; live tracking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737360"/>
            <a:ext cx="2606040" cy="1371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874520"/>
            <a:ext cx="411480" cy="411480"/>
          </a:xfrm>
          <a:prstGeom prst="ellipse">
            <a:avLst/>
          </a:prstGeom>
          <a:solidFill>
            <a:srgbClr val="4CAF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195681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&amp; Delivery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rider fleet with OTP verification &amp; photo proof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737360"/>
            <a:ext cx="2606040" cy="1371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63640" y="1874520"/>
            <a:ext cx="411480" cy="411480"/>
          </a:xfrm>
          <a:prstGeom prst="ellipse">
            <a:avLst/>
          </a:prstGeom>
          <a:solidFill>
            <a:srgbClr val="7B4FC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95681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 Services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2331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Wash+Iron, Dry Clean, Shoe Care, Ethnic Wear, Woolens &amp; more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337560"/>
            <a:ext cx="2606040" cy="1371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4360" y="3474720"/>
            <a:ext cx="411480" cy="41148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557016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System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Presso Coins on every order. Silver, Gold, Platinum tiers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3337560"/>
            <a:ext cx="2606040" cy="1371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474720"/>
            <a:ext cx="411480" cy="411480"/>
          </a:xfrm>
          <a:prstGeom prst="ellipse">
            <a:avLst/>
          </a:prstGeom>
          <a:solidFill>
            <a:srgbClr val="0072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3557016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Discounts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student ID unlocks 10% off every order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3337560"/>
            <a:ext cx="2606040" cy="1371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63640" y="3474720"/>
            <a:ext cx="411480" cy="411480"/>
          </a:xfrm>
          <a:prstGeom prst="ellipse">
            <a:avLst/>
          </a:prstGeom>
          <a:solidFill>
            <a:srgbClr val="FF606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557016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Growth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63640" y="39319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code, earn coins. Two-sided incentive engine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4-step process from your phone to fresh clothes at your door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1965960" cy="30175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600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05840" y="2240280"/>
            <a:ext cx="548640" cy="548640"/>
          </a:xfrm>
          <a:prstGeom prst="ellipse">
            <a:avLst/>
          </a:prstGeom>
          <a:solidFill>
            <a:srgbClr val="00C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500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Slot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service, pick garments, select a convenient pickup time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83464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14600" y="1463040"/>
            <a:ext cx="1965960" cy="30175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514600" y="1600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Shape 9"/>
          <p:cNvSpPr/>
          <p:nvPr/>
        </p:nvSpPr>
        <p:spPr>
          <a:xfrm>
            <a:off x="3200400" y="2240280"/>
            <a:ext cx="548640" cy="548640"/>
          </a:xfrm>
          <a:prstGeom prst="ellipse">
            <a:avLst/>
          </a:prstGeom>
          <a:solidFill>
            <a:srgbClr val="4CAF8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35000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5176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Pick Up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651760" y="3383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arrives, photos taken, OTP verified. Full transparency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834640"/>
            <a:ext cx="228600" cy="2286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709160" y="1463040"/>
            <a:ext cx="1965960" cy="30175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709160" y="1600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B4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Shape 14"/>
          <p:cNvSpPr/>
          <p:nvPr/>
        </p:nvSpPr>
        <p:spPr>
          <a:xfrm>
            <a:off x="5394960" y="2240280"/>
            <a:ext cx="548640" cy="548640"/>
          </a:xfrm>
          <a:prstGeom prst="ellipse">
            <a:avLst/>
          </a:prstGeom>
          <a:solidFill>
            <a:srgbClr val="7B4FCC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235000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4632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Care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46320" y="3383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at our facility with stage-by-stage tracking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834640"/>
            <a:ext cx="228600" cy="2286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903720" y="1463040"/>
            <a:ext cx="1965960" cy="301752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6903720" y="16002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sp>
        <p:nvSpPr>
          <p:cNvPr id="27" name="Shape 19"/>
          <p:cNvSpPr/>
          <p:nvPr/>
        </p:nvSpPr>
        <p:spPr>
          <a:xfrm>
            <a:off x="7589520" y="2240280"/>
            <a:ext cx="548640" cy="54864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2350008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40880" y="2971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Fresh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040880" y="338328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clothes at your door. OTP verified. Coins earned!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77724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$2.7B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Laundry Service Market (2025)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0" cy="77724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Laundry CAGR (2026-2033)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114800" cy="77724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Online Market by 2033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114800" cy="77724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840480"/>
            <a:ext cx="54864" cy="777240"/>
          </a:xfrm>
          <a:prstGeom prst="rect">
            <a:avLst/>
          </a:prstGeom>
          <a:solidFill>
            <a:srgbClr val="7B4FC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4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20M+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 Mumbai Metro Population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NAVI MUMBAI?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Rapidly growing IT corridor with young professionals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High-density residential hubs (Kharghar, Vashi, Panvel, Belapur)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560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Dual-income households with high disposable income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Limited organized laundry competition vs. Mumbai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566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Lower operational costs than Mumbai proper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4069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Large student population (multiple universities)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order with transparent, competitive pricing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411480"/>
          </a:xfrm>
          <a:prstGeom prst="rect">
            <a:avLst/>
          </a:prstGeom>
          <a:solidFill>
            <a:srgbClr val="0072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371600"/>
            <a:ext cx="1920240" cy="411480"/>
          </a:xfrm>
          <a:prstGeom prst="rect">
            <a:avLst/>
          </a:prstGeom>
          <a:solidFill>
            <a:srgbClr val="0072FF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Range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1920240" cy="411480"/>
          </a:xfrm>
          <a:prstGeom prst="rect">
            <a:avLst/>
          </a:prstGeom>
          <a:solidFill>
            <a:srgbClr val="0072FF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371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Margin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+ Iron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828800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Rs.29 - Rs.49/pc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828800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55-60%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12848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12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+ Fold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2212848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2468880" y="2212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Rs.19/pc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2212848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212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60-65%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96896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5968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Clean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2596896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25968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Rs.149 - Rs.499/pc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2596896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25968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50-55%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980944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9809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Only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2980944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29809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Rs.12/pc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2980944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29809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70-75%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64992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364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Shoe Cleaning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364992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7" name="Text 35"/>
          <p:cNvSpPr/>
          <p:nvPr/>
        </p:nvSpPr>
        <p:spPr>
          <a:xfrm>
            <a:off x="2468880" y="3364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Rs.199 - Rs.398/pc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80560" y="3364992"/>
            <a:ext cx="1920240" cy="36576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9" name="Text 37"/>
          <p:cNvSpPr/>
          <p:nvPr/>
        </p:nvSpPr>
        <p:spPr>
          <a:xfrm>
            <a:off x="4480560" y="3364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45-50%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Premium/Ethnic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8880" y="3749040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43" name="Text 41"/>
          <p:cNvSpPr/>
          <p:nvPr/>
        </p:nvSpPr>
        <p:spPr>
          <a:xfrm>
            <a:off x="246888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Rs.99 - Rs.349/pc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80560" y="3749040"/>
            <a:ext cx="1920240" cy="36576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45" name="Text 43"/>
          <p:cNvSpPr/>
          <p:nvPr/>
        </p:nvSpPr>
        <p:spPr>
          <a:xfrm>
            <a:off x="4480560" y="3749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50-55%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836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583680" y="1783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2376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Per-piece laundry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583680" y="23774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23760" y="2377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delivery (25% surcharge)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8368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22376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treatments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83680" y="3566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2376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B2B/subscriptions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583680" y="3840480"/>
            <a:ext cx="2286000" cy="10058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58368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ORDER VALUE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8368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Rs.350-500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6583680" y="4526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per transaction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acquisition plan for Navi Mumbai launch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0515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08760"/>
            <a:ext cx="365760" cy="365760"/>
          </a:xfrm>
          <a:prstGeom prst="ellipse">
            <a:avLst/>
          </a:prstGeom>
          <a:solidFill>
            <a:srgbClr val="7B4F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01752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Rs.1.5-2L/mo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Reels, YouTube Shorts, meme marketing targeting young professionals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4023360" cy="10515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508760"/>
            <a:ext cx="365760" cy="365760"/>
          </a:xfrm>
          <a:prstGeom prst="ellipse">
            <a:avLst/>
          </a:prstGeom>
          <a:solidFill>
            <a:srgbClr val="0072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5819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463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315200" y="1463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Rs.2-3L/mo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(local search), Meta Ads targeting Navi Mumbai pin codes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2560320"/>
            <a:ext cx="4023360" cy="10515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2697480"/>
            <a:ext cx="365760" cy="365760"/>
          </a:xfrm>
          <a:prstGeom prst="ellipse">
            <a:avLst/>
          </a:prstGeom>
          <a:solidFill>
            <a:srgbClr val="4CAF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7706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&amp; Referrals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01752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Rs.30-50K/mo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9436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referral with coin rewards, WhatsApp broadcast for offers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54880" y="2560320"/>
            <a:ext cx="4023360" cy="10515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92040" y="2697480"/>
            <a:ext cx="365760" cy="365760"/>
          </a:xfrm>
          <a:prstGeom prst="ellipse">
            <a:avLst/>
          </a:prstGeom>
          <a:solidFill>
            <a:srgbClr val="FFB34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77063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31520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Rs.50K-1L/mo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9204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PG/hostel tie-ups, co-working spaces, corporate laundry packages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" y="3749040"/>
            <a:ext cx="4023360" cy="10515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94360" y="3886200"/>
            <a:ext cx="365760" cy="365760"/>
          </a:xfrm>
          <a:prstGeom prst="ellipse">
            <a:avLst/>
          </a:prstGeom>
          <a:solidFill>
            <a:srgbClr val="FF606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95935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Hyperlocal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01752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Rs.50K-1L/mo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9436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Society gate banners, RWA tie-ups, doorstep flyers in target areas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4754880" y="3749040"/>
            <a:ext cx="4023360" cy="105156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892040" y="3886200"/>
            <a:ext cx="365760" cy="365760"/>
          </a:xfrm>
          <a:prstGeom prst="ellipse">
            <a:avLst/>
          </a:prstGeom>
          <a:solidFill>
            <a:srgbClr val="00C6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959352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34924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Campaign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731520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Rs.1-2L (one-time)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4892040" y="4206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'First 3 Orders Free Delivery' + Rs.100 referral bonus, influencer collab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IDENTITY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97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PRESSO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"Fresh Laundry, Delivered."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Premium, tech-forward, trustworthy. Presso means precision + espresso-fast service. A name that conveys speed, quality, and modernity.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4632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PALETTE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274320" cy="2560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#0A1628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737360"/>
            <a:ext cx="274320" cy="256032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737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#00C6FF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0" y="2057400"/>
            <a:ext cx="274320" cy="256032"/>
          </a:xfrm>
          <a:prstGeom prst="rect">
            <a:avLst/>
          </a:prstGeom>
          <a:solidFill>
            <a:srgbClr val="7B4FCC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2057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#7B4FCC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377440"/>
            <a:ext cx="274320" cy="256032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377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#4CAF82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697480"/>
            <a:ext cx="274320" cy="256032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697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#FFB347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2697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291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1280160" cy="10972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94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114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laundry. You don't have to.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74520" y="3749040"/>
            <a:ext cx="1280160" cy="10972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3" name="Text 31"/>
          <p:cNvSpPr/>
          <p:nvPr/>
        </p:nvSpPr>
        <p:spPr>
          <a:xfrm>
            <a:off x="1874520" y="3794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74520" y="4114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helpful neighbor, not a corporation.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3749040"/>
            <a:ext cx="1280160" cy="10972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6" name="Text 34"/>
          <p:cNvSpPr/>
          <p:nvPr/>
        </p:nvSpPr>
        <p:spPr>
          <a:xfrm>
            <a:off x="3291840" y="3794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4114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you can see and feel.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IT professionals (25-40) in Kharghar, Belapur, Vashi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4069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Dual-income families with kids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College students in hostels &amp; PGs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709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Bachelors in shared apartments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investment and monthly operating expenses (Rs.5-20 Lakhs budget)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SETUP (ONE-TIME)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338328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3736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Development &amp; Infra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73736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Rs.2-3L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4114800" cy="3383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0312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 &amp; Design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Rs.50K-1L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114800" cy="338328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6888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Setup (Lease + Equipment)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Rs.3-5L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114800" cy="3383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3464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Rider Fleet (2-3 riders)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83464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Rs.50K-1L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114800" cy="338328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0040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Marketing Campaign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20040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Rs.1-2L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114800" cy="3383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566160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Licensing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0" y="356616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Rs.25K-50K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4114800" cy="411480"/>
          </a:xfrm>
          <a:prstGeom prst="rect">
            <a:avLst/>
          </a:prstGeom>
          <a:solidFill>
            <a:srgbClr val="0072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SETUP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3977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Rs.7.25-12.5L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OPERATING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1737360"/>
            <a:ext cx="3840480" cy="338328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173736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Salaries (3 riders)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173736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Rs.45-60K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2103120"/>
            <a:ext cx="3840480" cy="3383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10312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Rent + Utilities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0" y="210312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Rs.25-40K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2468880"/>
            <a:ext cx="3840480" cy="338328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246888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Marketing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246888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Rs.50K-1.5L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2834640"/>
            <a:ext cx="3840480" cy="3383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283464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Infrastructure (Cloud/APIs)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0" y="283464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Rs.10-15K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3200400"/>
            <a:ext cx="3840480" cy="338328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320040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Consumables (Detergent, Packaging)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0" y="320040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Rs.15-25K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0" y="3566160"/>
            <a:ext cx="3840480" cy="3383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356616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Staff (2-3 people)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356616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Rs.40-60K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29200" y="3977640"/>
            <a:ext cx="3840480" cy="411480"/>
          </a:xfrm>
          <a:prstGeom prst="rect">
            <a:avLst/>
          </a:prstGeom>
          <a:solidFill>
            <a:srgbClr val="0072FF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MONTHLY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0" y="3977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Rs.1.85-3.5L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" y="4572000"/>
            <a:ext cx="8412480" cy="41148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target: 300-400 orders/month at Rs.400 AOV = Rs.1.2-1.6L revenue  |  Timeline: Month 6-8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38100">
            <a:solidFill>
              <a:srgbClr val="1A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325880"/>
            <a:ext cx="274320" cy="274320"/>
          </a:xfrm>
          <a:prstGeom prst="ellipse">
            <a:avLst/>
          </a:prstGeom>
          <a:solidFill>
            <a:srgbClr val="00C6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2011680" cy="29260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28800"/>
            <a:ext cx="2011680" cy="54864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&amp; Validate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Go live in Kharghar &amp; Vashi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50-100 orders/month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Onboard 3 riders, 1 facility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00C6FF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Test referral + coin engine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1325880"/>
            <a:ext cx="274320" cy="274320"/>
          </a:xfrm>
          <a:prstGeom prst="ellipse">
            <a:avLst/>
          </a:prstGeom>
          <a:solidFill>
            <a:srgbClr val="4CAF82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1828800"/>
            <a:ext cx="2011680" cy="29260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828800"/>
            <a:ext cx="2011680" cy="54864"/>
          </a:xfrm>
          <a:prstGeom prst="rect">
            <a:avLst/>
          </a:prstGeom>
          <a:solidFill>
            <a:srgbClr val="4CAF82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4-6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&amp; Optimize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CAF82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Expand to Belapur &amp; Panvel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603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CAF82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200-400 orders/month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6032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CAF82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Student partnerships live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4CAF82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Optimize unit economics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0" y="1325880"/>
            <a:ext cx="274320" cy="274320"/>
          </a:xfrm>
          <a:prstGeom prst="ellipse">
            <a:avLst/>
          </a:prstGeom>
          <a:solidFill>
            <a:srgbClr val="7B4FCC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1828800"/>
            <a:ext cx="2011680" cy="29260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1828800"/>
            <a:ext cx="2011680" cy="54864"/>
          </a:xfrm>
          <a:prstGeom prst="rect">
            <a:avLst/>
          </a:prstGeom>
          <a:solidFill>
            <a:srgbClr val="7B4FCC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4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7-12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1772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Profit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7B4FCC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Cover all Navi Mumbai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091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7B4FCC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800-1500 orders/month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091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7B4FCC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Break-even achieved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0916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7B4FCC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Launch B2B &amp; subscription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35240" y="1325880"/>
            <a:ext cx="274320" cy="274320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5" name="Shape 33"/>
          <p:cNvSpPr/>
          <p:nvPr/>
        </p:nvSpPr>
        <p:spPr>
          <a:xfrm>
            <a:off x="6766560" y="1828800"/>
            <a:ext cx="2011680" cy="29260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66560" y="1828800"/>
            <a:ext cx="2011680" cy="54864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665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&amp; Raise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FFB347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Enter Thane &amp; Mumbai suburbs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FFB347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3000+ orders/month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FFB347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Seek seed funding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3977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FFB347"/>
                </a:solidFill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Multi-facility operations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PRESSO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Laundry, Delivered.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2743200"/>
            <a:ext cx="4572000" cy="9144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disrupt laundry in Navi Mumbai.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harshal.rpatil5@gmail.com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 Mumbai, Maharashtra  |  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Presso - Business &amp; Marketing Strategy</dc:title>
  <dc:subject>PptxGenJS Presentation</dc:subject>
  <dc:creator>Presso</dc:creator>
  <cp:lastModifiedBy>Presso</cp:lastModifiedBy>
  <cp:revision>1</cp:revision>
  <dcterms:created xsi:type="dcterms:W3CDTF">2026-04-03T06:46:24Z</dcterms:created>
  <dcterms:modified xsi:type="dcterms:W3CDTF">2026-04-03T06:46:24Z</dcterms:modified>
</cp:coreProperties>
</file>